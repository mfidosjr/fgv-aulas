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embeddedFontLst>
    <p:embeddedFont>
      <p:font typeface="Epilogue"/>
      <p:regular r:id="rId201314"/>
    </p:embeddedFont>
    <p:embeddedFont>
      <p:font typeface="Epilogue Medium"/>
      <p:regular r:id="rId201315"/>
    </p:embeddedFont>
    <p:embeddedFont>
      <p:font typeface="Epilogue Bold"/>
      <p:regular r:id="rId201316"/>
    </p:embeddedFont>
    <p:embeddedFont>
      <p:font typeface="Fraunces"/>
      <p:regular r:id="rId201317"/>
    </p:embeddedFont>
    <p:embeddedFont>
      <p:font typeface="Fraunces Medium"/>
      <p:regular r:id="rId201318"/>
    </p:embeddedFont>
    <p:embeddedFont>
      <p:font typeface="Fraunces Bold"/>
      <p:regular r:id="rId2013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Relationship Id="rId201321" Target="fonts/201321.fntdata" Type="http://schemas.openxmlformats.org/officeDocument/2006/relationships/font"/><Relationship Id="rId201322" Target="fonts/201322.fntdata" Type="http://schemas.openxmlformats.org/officeDocument/2006/relationships/font"/><Relationship Id="rId201323" Target="fonts/201323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8AF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26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2.png"/><Relationship Id="rId5" Type="http://schemas.openxmlformats.org/officeDocument/2006/relationships/image" Target="../media/image-1-3.svg"/><Relationship Id="rId6" Type="http://schemas.openxmlformats.org/officeDocument/2006/relationships/image" Target="../media/image-1-2.png"/><Relationship Id="rId7" Type="http://schemas.openxmlformats.org/officeDocument/2006/relationships/image" Target="../media/image-1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2.png"/><Relationship Id="rId7" Type="http://schemas.openxmlformats.org/officeDocument/2006/relationships/image" Target="../media/image-2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28315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52" y="103981"/>
            <a:ext cx="4433181" cy="664993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92832"/>
            <a:ext cx="6296860" cy="1301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O Fim da Fraude Silenciosa — Protegendo a Receita e a Experiência do Cliente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233360" y="2047081"/>
            <a:ext cx="6296860" cy="385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i="1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Como a Inteligência Artificial Transforma a Prevenção de Perdas Financeiras em uma Vantagem Competitiva.</a:t>
            </a:r>
            <a:endParaRPr lang="en-US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2546846"/>
            <a:ext cx="6296860" cy="11714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67412" y="2704703"/>
            <a:ext cx="5904955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O Desafio Atual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5467412" y="2982714"/>
            <a:ext cx="5904955" cy="5777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Instituições perdem anualmente com fraudes não detectadas (FN a R$ 1.500/caso) e arcam com altos custos operacionais ao bloquear clientes legítimos (FP a R$ 100/caso).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3820220"/>
            <a:ext cx="6296860" cy="117147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67412" y="3978077"/>
            <a:ext cx="5904955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A Limitação Atual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5467412" y="4256088"/>
            <a:ext cx="5904955" cy="5777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Regras estáticas manuais (F1 de 0,059) e modelos lineares geram excesso de falsos alarmes (1.400 FPs no teste) e deixam passar fraudes complexas.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5093593"/>
            <a:ext cx="6296860" cy="117147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67412" y="5251450"/>
            <a:ext cx="5904955" cy="21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A Visão com IA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5467412" y="5529461"/>
            <a:ext cx="5904955" cy="5777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Rede Neural MLP com Oversampling e limiar ótimo (0.80), identificando padrões não lineares em &lt;30ms, economizando R$ 504k/ano com ROI de +323,5%.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3995"/>
            <a:ext cx="10868745" cy="9598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Por Dentro da Solução — Como Nossa Rede Neural Identifica Padrões Ocultos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1475" y="1743373"/>
            <a:ext cx="11478330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i="1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Tecnologia de Ponta Aplicada à Análise Comportamental em Tempo Real sem Complicação.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434828"/>
            <a:ext cx="3560475" cy="3560564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2940" y="2246610"/>
            <a:ext cx="6933530" cy="11550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10798" y="2680097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5360953" y="2419152"/>
            <a:ext cx="6002981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Nossos Dados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360953" y="2783780"/>
            <a:ext cx="6002981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Atributos transacionais nativos: valor, horário, frequência em 24h, distância do local habitual e novos dispositivos.</a:t>
            </a:r>
            <a:endParaRPr lang="en-US" sz="12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02940" y="3526334"/>
            <a:ext cx="6933530" cy="137765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810798" y="4071144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5360953" y="3698875"/>
            <a:ext cx="6002981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A Abordagem Inteligente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5360953" y="4063504"/>
            <a:ext cx="6002981" cy="667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Treinamento especializado com Oversampling da classe minoritária, permitindo que a Rede Neural aprenda combinações complexas mantendo </a:t>
            </a:r>
            <a:pPr algn="l" indent="0" marL="0">
              <a:lnSpc>
                <a:spcPct val="121000"/>
              </a:lnSpc>
              <a:buNone/>
            </a:pPr>
            <a:r>
              <a:rPr lang="en-US" sz="120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0% de colapso do modelo</a:t>
            </a:r>
            <a:pPr algn="l" indent="0" marL="0">
              <a:lnSpc>
                <a:spcPct val="121000"/>
              </a:lnSpc>
              <a:buNone/>
            </a:pPr>
            <a:r>
              <a:rPr lang="en-US" sz="12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.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02940" y="5028704"/>
            <a:ext cx="6933530" cy="115500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810798" y="5462191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5360953" y="5201245"/>
            <a:ext cx="6002981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Integração Fluida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5360953" y="5565874"/>
            <a:ext cx="6002981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Microsserviço de inferência contínua via API REST com latência </a:t>
            </a:r>
            <a:pPr algn="l" indent="0" marL="0">
              <a:lnSpc>
                <a:spcPct val="121000"/>
              </a:lnSpc>
              <a:buNone/>
            </a:pPr>
            <a:r>
              <a:rPr lang="en-US" sz="120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&lt; 30ms</a:t>
            </a:r>
            <a:pPr algn="l" indent="0" marL="0">
              <a:lnSpc>
                <a:spcPct val="121000"/>
              </a:lnSpc>
              <a:buNone/>
            </a:pPr>
            <a:r>
              <a:rPr lang="en-US" sz="12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, scoreando transações em tempo real sem fricção.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1097"/>
            <a:ext cx="10868745" cy="73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Impacto de Negócio e Roadmap de Entrega — Rumo a uma Operação Escalável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661475" y="1407120"/>
            <a:ext cx="11478330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i="1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Retorno Financeiro Quantificável, Validação Robusta e Implantação Segura.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61475" y="1702792"/>
            <a:ext cx="5388237" cy="389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0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+30.7%</a:t>
            </a:r>
            <a:endParaRPr lang="en-US" sz="3050" dirty="0"/>
          </a:p>
        </p:txBody>
      </p:sp>
      <p:sp>
        <p:nvSpPr>
          <p:cNvPr id="5" name="Text 3"/>
          <p:cNvSpPr/>
          <p:nvPr/>
        </p:nvSpPr>
        <p:spPr>
          <a:xfrm>
            <a:off x="661475" y="2207022"/>
            <a:ext cx="5388237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F1-Score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61475" y="2435820"/>
            <a:ext cx="5388237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Ganho médio multi-seed sobre o baseline (0,217 vs 0,166) com 0% de colapso.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41983" y="1702792"/>
            <a:ext cx="5388237" cy="389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0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+43.8%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141983" y="2207022"/>
            <a:ext cx="5388237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Precisão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41983" y="2435820"/>
            <a:ext cx="5388237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Ganho médio multi-seed (0,138 vs 0,096), reduzindo drasticamente falsos alarmes.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1475" y="2796084"/>
            <a:ext cx="5388237" cy="389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0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51.4%</a:t>
            </a:r>
            <a:endParaRPr lang="en-US" sz="3050" dirty="0"/>
          </a:p>
        </p:txBody>
      </p:sp>
      <p:sp>
        <p:nvSpPr>
          <p:cNvPr id="11" name="Text 9"/>
          <p:cNvSpPr/>
          <p:nvPr/>
        </p:nvSpPr>
        <p:spPr>
          <a:xfrm>
            <a:off x="661475" y="3300313"/>
            <a:ext cx="5388237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Recall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1475" y="3529112"/>
            <a:ext cx="5388237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Recall balanceado (51,4%), com limiar ótimo (0.80) minimizando o custo total.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41983" y="2796084"/>
            <a:ext cx="5388237" cy="389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30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&lt;30ms</a:t>
            </a:r>
            <a:endParaRPr lang="en-US" sz="3050" dirty="0"/>
          </a:p>
        </p:txBody>
      </p:sp>
      <p:sp>
        <p:nvSpPr>
          <p:cNvPr id="14" name="Text 12"/>
          <p:cNvSpPr/>
          <p:nvPr/>
        </p:nvSpPr>
        <p:spPr>
          <a:xfrm>
            <a:off x="6141983" y="3300313"/>
            <a:ext cx="5388237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Latência API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41983" y="3529112"/>
            <a:ext cx="5388237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Inferência em tempo real (benchmark de ~0.1ms em CPU; SLA de produção &lt;30ms).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1475" y="3839567"/>
            <a:ext cx="5290311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Retorno Financeiro e ROI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1475" y="4097933"/>
            <a:ext cx="5290311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ROI de </a:t>
            </a:r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+323,5%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no 1º ano (Capex R$ 65k, Opex R$ 54k), Payback 2,8 meses e economia de R$ 504k/ano sob </a:t>
            </a:r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Shadow Mode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com validação multi-seed (0% colapso).</a:t>
            </a:r>
            <a:endParaRPr lang="en-US" sz="9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6259" y="3848795"/>
            <a:ext cx="590634" cy="80168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910711" y="3966865"/>
            <a:ext cx="462585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Fase 1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910711" y="4225230"/>
            <a:ext cx="4625859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Semanas 1–2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Homologação API</a:t>
            </a:r>
            <a:endParaRPr lang="en-US" sz="9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259" y="4650482"/>
            <a:ext cx="590634" cy="80168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910711" y="4768552"/>
            <a:ext cx="462585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Fase 2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10711" y="5026918"/>
            <a:ext cx="4625859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Semanas 3–4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Pilot Shadow Mode e calibração de limiar 0.80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259" y="5452170"/>
            <a:ext cx="590634" cy="80168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10711" y="5570240"/>
            <a:ext cx="462585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BECEF"/>
                </a:solidFill>
                <a:latin typeface="Fraunces Medium" pitchFamily="34" charset="0"/>
                <a:ea typeface="Fraunces Medium" pitchFamily="34" charset="-122"/>
                <a:cs typeface="Fraunces Medium" pitchFamily="34" charset="-120"/>
              </a:rPr>
              <a:t>Fase 3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910711" y="5828605"/>
            <a:ext cx="4625859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EBECEF"/>
                </a:solidFill>
                <a:latin typeface="Epilogue Bold" pitchFamily="34" charset="0"/>
                <a:ea typeface="Epilogue Bold" pitchFamily="34" charset="-122"/>
                <a:cs typeface="Epilogue Bold" pitchFamily="34" charset="-120"/>
              </a:rPr>
              <a:t>Mês 2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EBECE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Rollout gradual, Drift via PSI e retreino mensal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2026-08-21T00:43:32Z</dcterms:created>
  <dcterms:modified xsi:type="dcterms:W3CDTF">2026-08-21T00:43:32Z</dcterms:modified>
</cp:coreProperties>
</file>