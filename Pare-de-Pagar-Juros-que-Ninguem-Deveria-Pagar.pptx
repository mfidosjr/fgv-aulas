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embeddedFontLst>
    <p:embeddedFont>
      <p:font typeface="Lora"/>
      <p:regular r:id="rId201314"/>
    </p:embeddedFont>
    <p:embeddedFont>
      <p:font typeface="Lora Bold"/>
      <p:regular r:id="rId201315"/>
    </p:embeddedFont>
    <p:embeddedFont>
      <p:font typeface="Source Sans 3"/>
      <p:regular r:id="rId201316"/>
    </p:embeddedFont>
    <p:embeddedFont>
      <p:font typeface="Source Sans 3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1.png"/><Relationship Id="rId4" Type="http://schemas.openxmlformats.org/officeDocument/2006/relationships/image" Target="../media/image-1-2.svg"/><Relationship Id="rId5" Type="http://schemas.openxmlformats.org/officeDocument/2006/relationships/image" Target="../media/image-1-1.png"/><Relationship Id="rId6" Type="http://schemas.openxmlformats.org/officeDocument/2006/relationships/image" Target="../media/image-1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4341"/>
            <a:ext cx="10795524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Pare de Pagar Juros que Ninguém Deveria Pagar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98086" y="1325166"/>
            <a:ext cx="11405108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Como a Lumina usa inteligência artificial para identificar o momento certo de portar um crédito, antes que o trabalhador desista de tentar.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822648"/>
            <a:ext cx="5203893" cy="374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 Desafio Atual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98086" y="2323306"/>
            <a:ext cx="5203893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Milhões de trabalhadores CLT carregam contratos de consignado, veículo e imobiliário contratados em juros altos. Sabem que pagam caro, mas não sabem se vale a pena portar. A decisão errada gera frustração.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98086" y="3135114"/>
            <a:ext cx="5203893" cy="374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Limitação Atual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698086" y="3635772"/>
            <a:ext cx="5203893" cy="913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 ferramentas atuais (calculadoras genéricas, simuladores bancários e análise manual) usam regras estáticas que ignoram a interação entre três fatores: o quanto a taxa está acima do mercado, o prazo restante e o saldo devedor. O resultado são recomendações que erram nas duas direções.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96066" y="1822648"/>
            <a:ext cx="5203893" cy="374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Visão com Inteligência Artificial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6296066" y="2323306"/>
            <a:ext cx="5203893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Lumina treina um modelo preditivo que aprende, a partir das características do contrato e das taxas de mercado do Banco Central, exatamente em que combinação de taxa, saldo e prazo a portabilidade se torna vantajosa.</a:t>
            </a:r>
            <a:endParaRPr lang="en-US" sz="12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4805859"/>
            <a:ext cx="3514042" cy="112256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52278" y="4983857"/>
            <a:ext cx="308185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Diagnóstico Personalizado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52278" y="5293618"/>
            <a:ext cx="3081856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Probabilidade calibrada para cada contrato, não uma regra genérica.</a:t>
            </a:r>
            <a:endParaRPr lang="en-US" sz="12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8727" y="4805859"/>
            <a:ext cx="3514141" cy="11225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2919" y="4983857"/>
            <a:ext cx="3081955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Linguagem Simples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92919" y="5293618"/>
            <a:ext cx="3081955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Justificativa clara entregue ao trabalhador no momento certo.</a:t>
            </a:r>
            <a:endParaRPr lang="en-US" sz="12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79468" y="4805859"/>
            <a:ext cx="3514141" cy="11225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33660" y="4983857"/>
            <a:ext cx="3081955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Ação no Momento Certo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33660" y="5293618"/>
            <a:ext cx="3081955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Antes que o trabalhador desista de agir por falta de clareza.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98086" y="6070898"/>
            <a:ext cx="1140510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Jorge Lucas Martins Máximo | MBA IA e Analytics FGV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01700"/>
            <a:ext cx="10795524" cy="55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Como a IA da Lumina Funciona por Baixo dos Panos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98086" y="1823244"/>
            <a:ext cx="11405108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Tecnologia sem complexidade desnecessária, dimensionada para o estágio atual do produto.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324001"/>
            <a:ext cx="1999505" cy="12357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086" y="3786287"/>
            <a:ext cx="3447468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Nossos Dados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98086" y="4174430"/>
            <a:ext cx="3447468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Contratos cadastrados pelo usuário no app e tabelas públicas de taxas do Banco Central. Dados pessoais anonimizados, em conformidade com a LGPD.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064" y="2324001"/>
            <a:ext cx="1999505" cy="12357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72064" y="3786287"/>
            <a:ext cx="3447468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Abordagem Inteligente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372064" y="4174430"/>
            <a:ext cx="3447468" cy="178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modelo aprende a interação entre spread de taxa, prazo restante e saldo devedor, que determina se o ganho supera os custos da portabilidade. AUC-ROC médio de 0,86 em experimento controlado; Regressão Logística escolhida pela explicabilidade.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042" y="2324001"/>
            <a:ext cx="1999505" cy="12357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6042" y="3786287"/>
            <a:ext cx="3447468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Integração Fluida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8046042" y="4174430"/>
            <a:ext cx="3447468" cy="1484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Diagnóstico roda na infraestrutura atual (Netlify Function serverless). Recomendação com justificativa em linguagem simples no app; indicador de saúde financeira para o RH.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2832"/>
            <a:ext cx="10795524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Impacto Real, Validação Honesta e os Próximos Passos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98086" y="1313656"/>
            <a:ext cx="11405108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Hipóteses claras, critérios de sucesso definidos e um roadmap proporcional ao estágio do negócio.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811139"/>
            <a:ext cx="5203893" cy="374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Impacto Esperado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98086" y="2311797"/>
            <a:ext cx="5203893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Hipótese central: mais de </a:t>
            </a:r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80%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das portabilidades recomendadas aceitas com economia real. Consequência esperada: churn anual de empresas clientes abaixo de </a:t>
            </a:r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10%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98086" y="3123605"/>
            <a:ext cx="5203893" cy="374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Validação Segura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698086" y="3624263"/>
            <a:ext cx="5203893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Antes da virada em produção: recomendações comparadas com desfechos reais reportados pelos usuários. Retreino acionado por queda na taxa de sucesso ou mudança nas taxas do Banco Central.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96066" y="1811139"/>
            <a:ext cx="5203893" cy="374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Próximos Passos (Roadmap)</a:t>
            </a:r>
            <a:endParaRPr lang="en-US" sz="2350" dirty="0"/>
          </a:p>
        </p:txBody>
      </p:sp>
      <p:sp>
        <p:nvSpPr>
          <p:cNvPr id="9" name="Shape 7"/>
          <p:cNvSpPr/>
          <p:nvPr/>
        </p:nvSpPr>
        <p:spPr>
          <a:xfrm>
            <a:off x="8888488" y="2327672"/>
            <a:ext cx="19050" cy="3794919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10" name="Shape 8"/>
          <p:cNvSpPr/>
          <p:nvPr/>
        </p:nvSpPr>
        <p:spPr>
          <a:xfrm>
            <a:off x="8261441" y="2496939"/>
            <a:ext cx="476833" cy="19050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11" name="Shape 9"/>
          <p:cNvSpPr/>
          <p:nvPr/>
        </p:nvSpPr>
        <p:spPr>
          <a:xfrm>
            <a:off x="8719225" y="2327672"/>
            <a:ext cx="357575" cy="357584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2" name="Text 10"/>
          <p:cNvSpPr/>
          <p:nvPr/>
        </p:nvSpPr>
        <p:spPr>
          <a:xfrm>
            <a:off x="8785849" y="2366218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296066" y="2382242"/>
            <a:ext cx="1807224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Agora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96066" y="2742605"/>
            <a:ext cx="1807224" cy="913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Regressão Logística calibrada como escolha de produção, deploy via Netlify Function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57751" y="3386038"/>
            <a:ext cx="476833" cy="19050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16" name="Shape 14"/>
          <p:cNvSpPr/>
          <p:nvPr/>
        </p:nvSpPr>
        <p:spPr>
          <a:xfrm>
            <a:off x="8719225" y="3216771"/>
            <a:ext cx="357575" cy="357584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7" name="Text 15"/>
          <p:cNvSpPr/>
          <p:nvPr/>
        </p:nvSpPr>
        <p:spPr>
          <a:xfrm>
            <a:off x="8785849" y="3255318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692735" y="3271341"/>
            <a:ext cx="1807224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Curto Prazo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692735" y="3631704"/>
            <a:ext cx="1807224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Coleta de desfechos reais direto no fluxo do app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61441" y="4175820"/>
            <a:ext cx="476833" cy="19050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21" name="Shape 19"/>
          <p:cNvSpPr/>
          <p:nvPr/>
        </p:nvSpPr>
        <p:spPr>
          <a:xfrm>
            <a:off x="8719225" y="4006552"/>
            <a:ext cx="357575" cy="357584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22" name="Text 20"/>
          <p:cNvSpPr/>
          <p:nvPr/>
        </p:nvSpPr>
        <p:spPr>
          <a:xfrm>
            <a:off x="8785849" y="4045099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6296066" y="4061123"/>
            <a:ext cx="1807224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Médio Prazo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296066" y="4421485"/>
            <a:ext cx="1807224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Avaliação de MLP e Gradient Boosting com volume de dados reais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057751" y="4965601"/>
            <a:ext cx="476833" cy="19050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26" name="Shape 24"/>
          <p:cNvSpPr/>
          <p:nvPr/>
        </p:nvSpPr>
        <p:spPr>
          <a:xfrm>
            <a:off x="8719225" y="4796334"/>
            <a:ext cx="357575" cy="357584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27" name="Text 25"/>
          <p:cNvSpPr/>
          <p:nvPr/>
        </p:nvSpPr>
        <p:spPr>
          <a:xfrm>
            <a:off x="8785849" y="4834880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9692735" y="4850904"/>
            <a:ext cx="1807224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Escala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692735" y="5211266"/>
            <a:ext cx="1807224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 Finance e folha de pagamento, condicionados a tração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2026-08-21T01:14:09Z</dcterms:created>
  <dcterms:modified xsi:type="dcterms:W3CDTF">2026-08-21T01:14:09Z</dcterms:modified>
</cp:coreProperties>
</file>